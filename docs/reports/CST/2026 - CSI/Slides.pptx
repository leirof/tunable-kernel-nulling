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067147" y="1479708"/>
            <a:ext cx="2057400" cy="347472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38BDF8"/>
                </a:solidFill>
                <a:latin typeface="Segoe UI"/>
              </a:defRPr>
            </a:pPr>
            <a:r>
              <a:rPr dirty="0"/>
              <a:t>COMITÉ DE SUIVI (CSI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9640" y="2849689"/>
            <a:ext cx="10332720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F8FAFC"/>
                </a:solidFill>
                <a:latin typeface="Segoe UI"/>
              </a:defRPr>
            </a:pPr>
            <a:r>
              <a:rPr lang="fr-FR" sz="3600" dirty="0"/>
              <a:t>Active </a:t>
            </a:r>
            <a:r>
              <a:rPr lang="fr-FR" sz="3600" dirty="0" err="1"/>
              <a:t>Tunable</a:t>
            </a:r>
            <a:r>
              <a:rPr lang="fr-FR" sz="3600" dirty="0"/>
              <a:t> Kernel </a:t>
            </a:r>
            <a:r>
              <a:rPr lang="fr-FR" sz="3600" dirty="0" err="1"/>
              <a:t>Nulling</a:t>
            </a:r>
            <a:endParaRPr lang="fr-FR" sz="3600" dirty="0"/>
          </a:p>
          <a:p>
            <a:pPr algn="ctr">
              <a:defRPr sz="2800" b="1">
                <a:solidFill>
                  <a:srgbClr val="F8FAFC"/>
                </a:solidFill>
                <a:latin typeface="Segoe UI"/>
              </a:defRPr>
            </a:pPr>
            <a:r>
              <a:rPr lang="fr-FR" sz="2800" dirty="0"/>
              <a:t>for Direct </a:t>
            </a:r>
            <a:r>
              <a:rPr lang="fr-FR" sz="2800" dirty="0" err="1"/>
              <a:t>Detection</a:t>
            </a:r>
            <a:r>
              <a:rPr lang="fr-FR" sz="2800" dirty="0"/>
              <a:t> of </a:t>
            </a:r>
            <a:r>
              <a:rPr lang="fr-FR" sz="2800" dirty="0" err="1"/>
              <a:t>Extrasolar</a:t>
            </a:r>
            <a:r>
              <a:rPr lang="fr-FR" sz="2800" dirty="0"/>
              <a:t> </a:t>
            </a:r>
            <a:r>
              <a:rPr lang="fr-FR" sz="2800" dirty="0" err="1"/>
              <a:t>Planets</a:t>
            </a:r>
            <a:endParaRPr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320040" y="5330951"/>
            <a:ext cx="73152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Vincent Foriel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879592"/>
            <a:ext cx="100584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CBD5E1"/>
                </a:solidFill>
                <a:latin typeface="Segoe UI"/>
              </a:defRPr>
            </a:pPr>
            <a:r>
              <a:rPr dirty="0"/>
              <a:t>Direction : Frantz </a:t>
            </a:r>
            <a:r>
              <a:rPr dirty="0" err="1"/>
              <a:t>Martinache</a:t>
            </a:r>
            <a:r>
              <a:rPr dirty="0"/>
              <a:t> &amp; David Mary (</a:t>
            </a:r>
            <a:r>
              <a:rPr dirty="0" err="1"/>
              <a:t>Laboratoire</a:t>
            </a:r>
            <a:r>
              <a:rPr dirty="0"/>
              <a:t> Lagrange, OCA, CNRS, UCA)</a:t>
            </a:r>
          </a:p>
          <a:p>
            <a:pPr>
              <a:spcAft>
                <a:spcPts val="4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rPr dirty="0"/>
              <a:t>Collaborations : Marc-Antoine Martinod, Nick </a:t>
            </a:r>
            <a:r>
              <a:rPr dirty="0" err="1"/>
              <a:t>Cvetojevic</a:t>
            </a:r>
            <a:r>
              <a:rPr dirty="0"/>
              <a:t>, Roxanne Ligi, Sylvie Robbe-Dubois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rPr dirty="0" err="1"/>
              <a:t>Membres</a:t>
            </a:r>
            <a:r>
              <a:rPr dirty="0"/>
              <a:t> du </a:t>
            </a:r>
            <a:r>
              <a:rPr dirty="0" err="1"/>
              <a:t>Comité</a:t>
            </a:r>
            <a:r>
              <a:rPr dirty="0"/>
              <a:t> : Sylvie Robbe-Dubois &amp; Jean-Marc Petit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950" b="1">
                <a:solidFill>
                  <a:srgbClr val="4338CA"/>
                </a:solidFill>
                <a:latin typeface="Segoe UI"/>
              </a:defRPr>
            </a:pPr>
            <a:r>
              <a:t>CONTEXTE &amp; PROBLÉMATIQUE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744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Le Défi du Nulling Actif : De la Photonique aux Observables Robustes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Comité de Suivi Individuel 2026 — Vincent Foriel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8632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9377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>
              <a:spcAft>
                <a:spcPts val="1000"/>
              </a:spcAft>
            </a:pPr>
            <a:r>
              <a:rPr sz="1450" b="1" dirty="0" err="1">
                <a:solidFill>
                  <a:srgbClr val="0F172A"/>
                </a:solidFill>
                <a:latin typeface="Segoe UI"/>
              </a:rPr>
              <a:t>Contraste</a:t>
            </a:r>
            <a:r>
              <a:rPr sz="145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450" b="1" dirty="0" err="1">
                <a:solidFill>
                  <a:srgbClr val="0F172A"/>
                </a:solidFill>
                <a:latin typeface="Segoe UI"/>
              </a:rPr>
              <a:t>extrême</a:t>
            </a:r>
            <a:r>
              <a:rPr sz="1450" b="1" dirty="0">
                <a:solidFill>
                  <a:srgbClr val="0F172A"/>
                </a:solidFill>
                <a:latin typeface="Segoe UI"/>
              </a:rPr>
              <a:t> :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Séparation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angulaire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infime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et étoile 10⁴ à 10⁶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fois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plus brillante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en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proche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IR.</a:t>
            </a:r>
          </a:p>
          <a:p>
            <a:pPr>
              <a:spcAft>
                <a:spcPts val="1000"/>
              </a:spcAft>
            </a:pPr>
            <a:r>
              <a:rPr sz="1450" b="1" dirty="0">
                <a:solidFill>
                  <a:srgbClr val="0F172A"/>
                </a:solidFill>
                <a:latin typeface="Segoe UI"/>
              </a:rPr>
              <a:t>Nulling </a:t>
            </a:r>
            <a:r>
              <a:rPr sz="1450" b="1" dirty="0" err="1">
                <a:solidFill>
                  <a:srgbClr val="0F172A"/>
                </a:solidFill>
                <a:latin typeface="Segoe UI"/>
              </a:rPr>
              <a:t>interférométrique</a:t>
            </a:r>
            <a:r>
              <a:rPr sz="1450" b="1" dirty="0">
                <a:solidFill>
                  <a:srgbClr val="0F172A"/>
                </a:solidFill>
                <a:latin typeface="Segoe UI"/>
              </a:rPr>
              <a:t> : 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Extinction destructive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axiale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de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l'étoile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hôte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; transmission du signal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planétaire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hors axe.</a:t>
            </a:r>
          </a:p>
          <a:p>
            <a:pPr>
              <a:spcAft>
                <a:spcPts val="1000"/>
              </a:spcAft>
            </a:pPr>
            <a:r>
              <a:rPr sz="1450" b="1" dirty="0" err="1">
                <a:solidFill>
                  <a:srgbClr val="0F172A"/>
                </a:solidFill>
                <a:latin typeface="Segoe UI"/>
              </a:rPr>
              <a:t>Sensibilité</a:t>
            </a:r>
            <a:r>
              <a:rPr sz="1450" b="1" dirty="0">
                <a:solidFill>
                  <a:srgbClr val="0F172A"/>
                </a:solidFill>
                <a:latin typeface="Segoe UI"/>
              </a:rPr>
              <a:t> aux pistons : 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Les perturbations de phase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dégradent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immédiatement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l'annulation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450" b="1" dirty="0">
                <a:solidFill>
                  <a:srgbClr val="0F172A"/>
                </a:solidFill>
                <a:latin typeface="Segoe UI"/>
              </a:rPr>
              <a:t>Observable Kernel-Null :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Combinaison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linéaire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de sorties insensible au 1er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ordre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aux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erreurs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de phase.</a:t>
            </a:r>
          </a:p>
          <a:p>
            <a:pPr>
              <a:spcAft>
                <a:spcPts val="1000"/>
              </a:spcAft>
            </a:pPr>
            <a:r>
              <a:rPr sz="1450" b="1" dirty="0">
                <a:solidFill>
                  <a:srgbClr val="0F172A"/>
                </a:solidFill>
                <a:latin typeface="Segoe UI"/>
              </a:rPr>
              <a:t>Puce active MMI 4x4 :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Recombinaison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intégrée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compacte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+ 4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actionneurs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thermo-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optiques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(TOPAs) </a:t>
            </a:r>
            <a:r>
              <a:rPr sz="1400" b="0" dirty="0" err="1">
                <a:solidFill>
                  <a:srgbClr val="475569"/>
                </a:solidFill>
                <a:latin typeface="Segoe UI"/>
              </a:rPr>
              <a:t>en</a:t>
            </a:r>
            <a:r>
              <a:rPr sz="1400" b="0" dirty="0">
                <a:solidFill>
                  <a:srgbClr val="475569"/>
                </a:solidFill>
                <a:latin typeface="Segoe UI"/>
              </a:rPr>
              <a:t> entrée.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5559552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mi_sc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092208"/>
            <a:ext cx="5376672" cy="25821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89320" y="5257800"/>
            <a:ext cx="53766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i="1">
                <a:solidFill>
                  <a:srgbClr val="475569"/>
                </a:solidFill>
                <a:latin typeface="Segoe UI"/>
              </a:defRPr>
            </a:pPr>
            <a:r>
              <a:t>Schéma conceptuel du composant actif MMI 4x4 avec 4 shifters thermiques (TOPAs).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33872"/>
            <a:ext cx="10728655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100" b="1">
                <a:solidFill>
                  <a:srgbClr val="1E40AF"/>
                </a:solidFill>
                <a:latin typeface="Segoe UI"/>
              </a:defRPr>
            </a:pPr>
            <a:r>
              <a:t>💡 Message clé pour le CSI : </a:t>
            </a:r>
            <a:r>
              <a:rPr sz="1100" b="0">
                <a:solidFill>
                  <a:srgbClr val="0F172A"/>
                </a:solidFill>
                <a:latin typeface="Segoe UI"/>
              </a:rPr>
              <a:t>Associer la stabilité de l'optique intégrée active à l'immunité aux pistons du Kernel-Null pour franchir les limites instrumentales.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950" b="1">
                <a:solidFill>
                  <a:srgbClr val="4338CA"/>
                </a:solidFill>
                <a:latin typeface="Segoe UI"/>
              </a:defRPr>
            </a:pPr>
            <a:r>
              <a:t>BILAN D'AVANCEMENT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744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Continuité des Travaux depuis le CSI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Comité de Suivi Individuel 2026 — Vincent Foriel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8632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9377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CSI 2025 → CSI 2026 : </a:t>
            </a:r>
            <a:r>
              <a:rPr sz="1400" b="0">
                <a:solidFill>
                  <a:srgbClr val="475569"/>
                </a:solidFill>
                <a:latin typeface="Segoe UI"/>
              </a:rPr>
              <a:t>Passage complet de la théorie numérique au banc expérimental réel.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Modélisation statistique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Démonstration de la quasi-optimalité de la médiane (Neyman-Pearson).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Dispersion chromatique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Implémentation dans PHISE ; validation jusqu'à 100 nm de bande passante.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Banc &amp; PHOBos : </a:t>
            </a:r>
            <a:r>
              <a:rPr sz="1400" b="0">
                <a:solidFill>
                  <a:srgbClr val="475569"/>
                </a:solidFill>
                <a:latin typeface="Segoe UI"/>
              </a:rPr>
              <a:t>Développement de l'OS de pilotage et calibration du MMI 4x4.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Confrontation modèle/mesures : </a:t>
            </a:r>
            <a:r>
              <a:rPr sz="1400" b="0">
                <a:solidFill>
                  <a:srgbClr val="475569"/>
                </a:solidFill>
                <a:latin typeface="Segoe UI"/>
              </a:rPr>
              <a:t>Modèle matriciel CMPCE et jumeau numérique réaliste (caméra C-RED 3).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Valorisation : </a:t>
            </a:r>
            <a:r>
              <a:rPr sz="1400" b="0">
                <a:solidFill>
                  <a:srgbClr val="475569"/>
                </a:solidFill>
                <a:latin typeface="Segoe UI"/>
              </a:rPr>
              <a:t>Article de caractérisation en phase de révision finale.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5559552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500" b="1">
                <a:solidFill>
                  <a:srgbClr val="1E40AF"/>
                </a:solidFill>
                <a:latin typeface="Segoe UI"/>
              </a:defRPr>
            </a:pPr>
            <a:r>
              <a:t>🎯 Jalons Engagés vs Réalisations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Théorie &amp; Décision : </a:t>
            </a:r>
            <a:r>
              <a:rPr sz="1150">
                <a:solidFill>
                  <a:srgbClr val="475569"/>
                </a:solidFill>
                <a:latin typeface="Segoe UI"/>
              </a:rPr>
              <a:t>Médiane validée vs Neyman-Pearson sous turbulence </a:t>
            </a:r>
            <a:r>
              <a:rPr sz="1150" b="1">
                <a:solidFill>
                  <a:srgbClr val="10B981"/>
                </a:solidFill>
                <a:latin typeface="Segoe UI"/>
              </a:rPr>
              <a:t>(✅ Terminé)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Dispersion spectrale : </a:t>
            </a:r>
            <a:r>
              <a:rPr sz="1150">
                <a:solidFill>
                  <a:srgbClr val="475569"/>
                </a:solidFill>
                <a:latin typeface="Segoe UI"/>
              </a:rPr>
              <a:t>Réponse chromatique modélisée dans PHISE </a:t>
            </a:r>
            <a:r>
              <a:rPr sz="1150" b="1">
                <a:solidFill>
                  <a:srgbClr val="10B981"/>
                </a:solidFill>
                <a:latin typeface="Segoe UI"/>
              </a:rPr>
              <a:t>(✅ Terminé)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Banc d'optique : </a:t>
            </a:r>
            <a:r>
              <a:rPr sz="1150">
                <a:solidFill>
                  <a:srgbClr val="475569"/>
                </a:solidFill>
                <a:latin typeface="Segoe UI"/>
              </a:rPr>
              <a:t>Logiciel PHOBos opérationnel &amp; acquisition fluide </a:t>
            </a:r>
            <a:r>
              <a:rPr sz="1150" b="1">
                <a:solidFill>
                  <a:srgbClr val="10B981"/>
                </a:solidFill>
                <a:latin typeface="Segoe UI"/>
              </a:rPr>
              <a:t>(✅ En service)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Calibration labo : </a:t>
            </a:r>
            <a:r>
              <a:rPr sz="1150">
                <a:solidFill>
                  <a:srgbClr val="475569"/>
                </a:solidFill>
                <a:latin typeface="Segoe UI"/>
              </a:rPr>
              <a:t>Null depth franchissant le seuil des 10⁻³ </a:t>
            </a:r>
            <a:r>
              <a:rPr sz="1150" b="1">
                <a:solidFill>
                  <a:srgbClr val="10B981"/>
                </a:solidFill>
                <a:latin typeface="Segoe UI"/>
              </a:rPr>
              <a:t>(✅ Réalisé)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Modélisation fine : </a:t>
            </a:r>
            <a:r>
              <a:rPr sz="1150">
                <a:solidFill>
                  <a:srgbClr val="475569"/>
                </a:solidFill>
                <a:latin typeface="Segoe UI"/>
              </a:rPr>
              <a:t>Modèle CMPCE &amp; simulation détecteur C-RED 3 </a:t>
            </a:r>
            <a:r>
              <a:rPr sz="1150" b="1">
                <a:solidFill>
                  <a:srgbClr val="10B981"/>
                </a:solidFill>
                <a:latin typeface="Segoe UI"/>
              </a:rPr>
              <a:t>(✅ Validé)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• Publication A&amp;A : </a:t>
            </a:r>
            <a:r>
              <a:rPr sz="1150">
                <a:solidFill>
                  <a:srgbClr val="475569"/>
                </a:solidFill>
                <a:latin typeface="Segoe UI"/>
              </a:rPr>
              <a:t>Manuscrit 4x4 MMI en relecture co-auteurs </a:t>
            </a:r>
            <a:r>
              <a:rPr sz="1150" b="1">
                <a:solidFill>
                  <a:srgbClr val="F59E0B"/>
                </a:solidFill>
                <a:latin typeface="Segoe UI"/>
              </a:rPr>
              <a:t>(⏳ En cours)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33872"/>
            <a:ext cx="10728655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100" b="1">
                <a:solidFill>
                  <a:srgbClr val="1E40AF"/>
                </a:solidFill>
                <a:latin typeface="Segoe UI"/>
              </a:defRPr>
            </a:pPr>
            <a:r>
              <a:t>💡 Message clé pour le CSI : </a:t>
            </a:r>
            <a:r>
              <a:rPr sz="1100" b="0">
                <a:solidFill>
                  <a:srgbClr val="0F172A"/>
                </a:solidFill>
                <a:latin typeface="Segoe UI"/>
              </a:rPr>
              <a:t>Tous les objectifs annoncés l'an passé ont été tenus, transformant les simulations théoriques en résultats de laboratoire.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950" b="1">
                <a:solidFill>
                  <a:srgbClr val="4338CA"/>
                </a:solidFill>
                <a:latin typeface="Segoe UI"/>
              </a:defRPr>
            </a:pPr>
            <a:r>
              <a:t>THÉORIE &amp;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744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Données Kernel : Test Optimal de Neyman-Pearson vs Médiane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Comité de Suivi Individuel 2026 — Vincent Foriel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8632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4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9377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Distributions asymétriques : </a:t>
            </a:r>
            <a:r>
              <a:rPr sz="1400" b="0">
                <a:solidFill>
                  <a:srgbClr val="475569"/>
                </a:solidFill>
                <a:latin typeface="Segoe UI"/>
              </a:rPr>
              <a:t>Les résidus de phase atmosphériques induisent des lois fortement non-gaussiennes.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Borne théorique ultime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Application du lemme de Neyman-Pearson (rapport de vraisemblance optimal).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Résultat clé : </a:t>
            </a:r>
            <a:r>
              <a:rPr sz="1400" b="0">
                <a:solidFill>
                  <a:srgbClr val="475569"/>
                </a:solidFill>
                <a:latin typeface="Segoe UI"/>
              </a:rPr>
              <a:t>La médiane empirique est quasiment indiscernable du test optimal théorique.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Robustesse aux pistons RMS : </a:t>
            </a:r>
            <a:r>
              <a:rPr sz="1400" b="0">
                <a:solidFill>
                  <a:srgbClr val="475569"/>
                </a:solidFill>
                <a:latin typeface="Segoe UI"/>
              </a:rPr>
              <a:t>Performance maintenue quel que soit le niveau de perturbation (labo vs atmosphère).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Avantage pratique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Pas besoin d'ajustement paramétrique complexe en temps réel.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5559552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est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901351"/>
            <a:ext cx="5376672" cy="29638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89320" y="5257800"/>
            <a:ext cx="53766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i="1">
                <a:solidFill>
                  <a:srgbClr val="475569"/>
                </a:solidFill>
                <a:latin typeface="Segoe UI"/>
              </a:defRPr>
            </a:pPr>
            <a:r>
              <a:t>Puissance du test : Comparaison du test optimal Neyman-Pearson et de la médiane.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33872"/>
            <a:ext cx="10728655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100" b="1">
                <a:solidFill>
                  <a:srgbClr val="1E40AF"/>
                </a:solidFill>
                <a:latin typeface="Segoe UI"/>
              </a:defRPr>
            </a:pPr>
            <a:r>
              <a:t>💡 Message clé pour le CSI : </a:t>
            </a:r>
            <a:r>
              <a:rPr sz="1100" b="0">
                <a:solidFill>
                  <a:srgbClr val="0F172A"/>
                </a:solidFill>
                <a:latin typeface="Segoe UI"/>
              </a:rPr>
              <a:t>La médiane empirique constitue un estimateur à la fois simple, robuste et quasi-optimal pour exploiter les observables Kernel.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950" b="1">
                <a:solidFill>
                  <a:srgbClr val="4338CA"/>
                </a:solidFill>
                <a:latin typeface="Segoe UI"/>
              </a:defRPr>
            </a:pPr>
            <a:r>
              <a:t>SIMULATION NUMÉRIQUE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744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Réponse Chromatique : Robustesse en Bande Étroite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Comité de Suivi Individuel 2026 — Vincent Foriel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8632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5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9377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Au-delà du monochromatique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Implémentation complète de la dispersion chromatique dans PHISE.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Bande étroite (Δλ ≤ 100 nm) : </a:t>
            </a:r>
            <a:r>
              <a:rPr sz="1400" b="0">
                <a:solidFill>
                  <a:srgbClr val="475569"/>
                </a:solidFill>
                <a:latin typeface="Segoe UI"/>
              </a:rPr>
              <a:t>La médiane conserve intégralement ses performances de réjection.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Bande large (~ 1 µm) : </a:t>
            </a:r>
            <a:r>
              <a:rPr sz="1400" b="0">
                <a:solidFill>
                  <a:srgbClr val="475569"/>
                </a:solidFill>
                <a:latin typeface="Segoe UI"/>
              </a:rPr>
              <a:t>Déformations notables des distributions statistiques en sortie de Kernel.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Bilan pratique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Une largeur de bande de 100 nm est largement suffisante pour les observations astronomiques visées.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5559552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wavelength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2448" y="1531620"/>
            <a:ext cx="4910414" cy="3703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89320" y="5257800"/>
            <a:ext cx="53766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i="1">
                <a:solidFill>
                  <a:srgbClr val="475569"/>
                </a:solidFill>
                <a:latin typeface="Segoe UI"/>
              </a:defRPr>
            </a:pPr>
            <a:r>
              <a:t>Scan spectral dans PHISE : Dépendance de l'extinction et stabilité en bande étroite.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33872"/>
            <a:ext cx="10728655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100" b="1">
                <a:solidFill>
                  <a:srgbClr val="1E40AF"/>
                </a:solidFill>
                <a:latin typeface="Segoe UI"/>
              </a:defRPr>
            </a:pPr>
            <a:r>
              <a:t>💡 Message clé pour le CSI : </a:t>
            </a:r>
            <a:r>
              <a:rPr sz="1100" b="0">
                <a:solidFill>
                  <a:srgbClr val="0F172A"/>
                </a:solidFill>
                <a:latin typeface="Segoe UI"/>
              </a:rPr>
              <a:t>La technique Kernel-Null reste parfaitement robuste aux effets chromatiques jusqu'à au moins 100 nm de largeur de bande.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950" b="1">
                <a:solidFill>
                  <a:srgbClr val="4338CA"/>
                </a:solidFill>
                <a:latin typeface="Segoe UI"/>
              </a:defRPr>
            </a:pPr>
            <a:r>
              <a:t>INSTRUMENTATION &amp; LOGICIEL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744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Contrôle du Banc Optique : Écosystème Logiciel PHOBos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Comité de Suivi Individuel 2026 — Vincent Foriel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8632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6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9377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Banc optique photonique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Montage et alignement réalisés en grande partie grâce à Marc-Antoine Martinod.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PHOBos (Python OOP) : </a:t>
            </a:r>
            <a:r>
              <a:rPr sz="1400" b="0">
                <a:solidFill>
                  <a:srgbClr val="475569"/>
                </a:solidFill>
                <a:latin typeface="Segoe UI"/>
              </a:rPr>
              <a:t>Architecture logicielle modulaire, orientée objet et hautement flexible.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Pilotes matériels unifiés : </a:t>
            </a:r>
            <a:r>
              <a:rPr sz="1400" b="0">
                <a:solidFill>
                  <a:srgbClr val="475569"/>
                </a:solidFill>
                <a:latin typeface="Segoe UI"/>
              </a:rPr>
              <a:t>Caméra C-RED 3, actionneurs piézo, miroir déformable BMC, shifters thermiques.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Automatisation complète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Calibration, acquisition haute cadence, pré-traitement et archivage standardisé.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Utilitaire PltEdit : </a:t>
            </a:r>
            <a:r>
              <a:rPr sz="1400" b="0">
                <a:solidFill>
                  <a:srgbClr val="475569"/>
                </a:solidFill>
                <a:latin typeface="Segoe UI"/>
              </a:rPr>
              <a:t>Outil transverse pour éditer et mettre en forme les tracés matplotlib post-génération.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5559552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926123"/>
            <a:ext cx="5376672" cy="29143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89320" y="5257800"/>
            <a:ext cx="53766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i="1">
                <a:solidFill>
                  <a:srgbClr val="475569"/>
                </a:solidFill>
                <a:latin typeface="Segoe UI"/>
              </a:defRPr>
            </a:pPr>
            <a:r>
              <a:t>Le banc de test optique PHOBos piloté par l'interface logicielle dédiée en Python.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33872"/>
            <a:ext cx="10728655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100" b="1">
                <a:solidFill>
                  <a:srgbClr val="1E40AF"/>
                </a:solidFill>
                <a:latin typeface="Segoe UI"/>
              </a:defRPr>
            </a:pPr>
            <a:r>
              <a:t>💡 Message clé pour le CSI : </a:t>
            </a:r>
            <a:r>
              <a:rPr sz="1100" b="0">
                <a:solidFill>
                  <a:srgbClr val="0F172A"/>
                </a:solidFill>
                <a:latin typeface="Segoe UI"/>
              </a:rPr>
              <a:t>PHOBos offre un environnement logiciel robuste, pérenne et documenté pour automatiser toutes les acquisitions de laboratoire.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950" b="1">
                <a:solidFill>
                  <a:srgbClr val="4338CA"/>
                </a:solidFill>
                <a:latin typeface="Segoe UI"/>
              </a:defRPr>
            </a:pPr>
            <a:r>
              <a:t>RÉSULTATS DE LABORATOIRE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744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Calibration sur MMI 4x4 : Franchissement du Seuil des 10⁻³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Comité de Suivi Individuel 2026 — Vincent Foriel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8632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7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9377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Architecture testée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MMI 4x4 équipé de 4 déphaseurs thermiques en entrée.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Algorithme Hooke &amp; Jeeves : </a:t>
            </a:r>
            <a:r>
              <a:rPr sz="1400" b="0">
                <a:solidFill>
                  <a:srgbClr val="475569"/>
                </a:solidFill>
                <a:latin typeface="Segoe UI"/>
              </a:rPr>
              <a:t>Méthode d'exploration directe adaptée et testée expérimentalement.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Null depth obtenu : </a:t>
            </a:r>
            <a:r>
              <a:rPr sz="1400" b="0">
                <a:solidFill>
                  <a:srgbClr val="475569"/>
                </a:solidFill>
                <a:latin typeface="Segoe UI"/>
              </a:rPr>
              <a:t>Extinctions régulières comprises entre 10⁻² et 10⁻³.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Progrès notable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Amélioration d'un ordre de grandeur par rapport aux travaux de Peter Chingaipe (limités à 10⁻²).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Stabilité : </a:t>
            </a:r>
            <a:r>
              <a:rPr sz="1400" b="0">
                <a:solidFill>
                  <a:srgbClr val="475569"/>
                </a:solidFill>
                <a:latin typeface="Segoe UI"/>
              </a:rPr>
              <a:t>Convergence rapide de l'optimisation en boucle fermée sur le banc.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5559552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018" y="1531620"/>
            <a:ext cx="4823275" cy="3703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89320" y="5257800"/>
            <a:ext cx="53766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i="1">
                <a:solidFill>
                  <a:srgbClr val="475569"/>
                </a:solidFill>
                <a:latin typeface="Segoe UI"/>
              </a:defRPr>
            </a:pPr>
            <a:r>
              <a:t>Convergence de la calibration Hooke &amp; Jeeves sur le banc : franchissement régulier de 10⁻³.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33872"/>
            <a:ext cx="10728655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100" b="1">
                <a:solidFill>
                  <a:srgbClr val="1E40AF"/>
                </a:solidFill>
                <a:latin typeface="Segoe UI"/>
              </a:defRPr>
            </a:pPr>
            <a:r>
              <a:t>💡 Message clé pour le CSI : </a:t>
            </a:r>
            <a:r>
              <a:rPr sz="1100" b="0">
                <a:solidFill>
                  <a:srgbClr val="0F172A"/>
                </a:solidFill>
                <a:latin typeface="Segoe UI"/>
              </a:rPr>
              <a:t>L'optimisation active par Hooke &amp; Jeeves permet de franchir le cap des 10⁻³ de null depth brut en conditions de laboratoire.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950" b="1">
                <a:solidFill>
                  <a:srgbClr val="4338CA"/>
                </a:solidFill>
                <a:latin typeface="Segoe UI"/>
              </a:defRPr>
            </a:pPr>
            <a:r>
              <a:t>CARACTÉRISATION PHYSIQUE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744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Modèle Matriciel CMPCE : Scan Systématique de la Puce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Comité de Suivi Individuel 2026 — Vincent Foriel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8632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8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9377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Scan systématique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Acquisition de 256 configurations d'entrées (isolées, paires, triplets, toutes).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Modèle matriciel CMPCE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I = |C_out · M · P · C_in · E|² intégrant les fuites optiques (cross-talk).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Phases retrouvées : </a:t>
            </a:r>
            <a:r>
              <a:rPr sz="1400" b="0">
                <a:solidFill>
                  <a:srgbClr val="475569"/>
                </a:solidFill>
                <a:latin typeface="Segoe UI"/>
              </a:rPr>
              <a:t>Excellente cohérence avec les corrections appliquées par Hooke &amp; Jeeves.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Modulations d'interférence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Très bonne reproduction des franges observées en sortie.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Limite identifiée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Difficulté à découpler la phase exacte des termes de cross-talk hors diagonale.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5559552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hasors_calibrated_day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711196"/>
            <a:ext cx="5376672" cy="13441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89320" y="5257800"/>
            <a:ext cx="53766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i="1">
                <a:solidFill>
                  <a:srgbClr val="475569"/>
                </a:solidFill>
                <a:latin typeface="Segoe UI"/>
              </a:defRPr>
            </a:pPr>
            <a:r>
              <a:t>Phaseurs de sortie reconstruits par le modèle CMPCE après optimisation (voie sombre + quadratures).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33872"/>
            <a:ext cx="10728655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100" b="1">
                <a:solidFill>
                  <a:srgbClr val="1E40AF"/>
                </a:solidFill>
                <a:latin typeface="Segoe UI"/>
              </a:defRPr>
            </a:pPr>
            <a:r>
              <a:t>💡 Message clé pour le CSI : </a:t>
            </a:r>
            <a:r>
              <a:rPr sz="1100" b="0">
                <a:solidFill>
                  <a:srgbClr val="0F172A"/>
                </a:solidFill>
                <a:latin typeface="Segoe UI"/>
              </a:rPr>
              <a:t>Le modèle CMPCE reconstitue avec fidélité les phases d'entrée et met en évidence la présence de termes de cross-talk parasites.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950" b="1">
                <a:solidFill>
                  <a:srgbClr val="4338CA"/>
                </a:solidFill>
                <a:latin typeface="Segoe UI"/>
              </a:defRPr>
            </a:pPr>
            <a:r>
              <a:t>JUMEAU NUMÉRIQUE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744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Simulateur PHISE : Intégration Réaliste de la Caméra C-RED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Comité de Suivi Individuel 2026 — Vincent Foriel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8632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9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9377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Physique du capteur : </a:t>
            </a:r>
            <a:r>
              <a:rPr sz="1400" b="0">
                <a:solidFill>
                  <a:srgbClr val="475569"/>
                </a:solidFill>
                <a:latin typeface="Segoe UI"/>
              </a:rPr>
              <a:t>Dispersion spatiale des faisceaux gaussiens réimagés sur les pixels C-RED 3.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Bruit réaliste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Intégration du bruit de lecture constructeur et soustraction de dark théorique.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Injection du modèle CMPCE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Matrice ajustée en laboratoire intégrée directement dans PHISE.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Concordance spectaculaire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Simulations et mesures de banc réelles se superposent de manière robuste.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Jumeau numérique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Permet d'isoler numériquement l'impact individuel de chaque imperfection.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5559552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outpu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504121"/>
            <a:ext cx="5376672" cy="17583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89320" y="5257800"/>
            <a:ext cx="53766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i="1">
                <a:solidFill>
                  <a:srgbClr val="475569"/>
                </a:solidFill>
                <a:latin typeface="Segoe UI"/>
              </a:defRPr>
            </a:pPr>
            <a:r>
              <a:t>Profils d'intensité des sorties réimagées et distributions associées simulées dans PHISE.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33872"/>
            <a:ext cx="10728655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100" b="1">
                <a:solidFill>
                  <a:srgbClr val="1E40AF"/>
                </a:solidFill>
                <a:latin typeface="Segoe UI"/>
              </a:defRPr>
            </a:pPr>
            <a:r>
              <a:t>💡 Message clé pour le CSI : </a:t>
            </a:r>
            <a:r>
              <a:rPr sz="1100" b="0">
                <a:solidFill>
                  <a:srgbClr val="0F172A"/>
                </a:solidFill>
                <a:latin typeface="Segoe UI"/>
              </a:rPr>
              <a:t>PHISE est devenu un véritable jumeau numérique du banc, reproduisant fidèlement les distributions expérimentales observées.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950" b="1">
                <a:solidFill>
                  <a:srgbClr val="4338CA"/>
                </a:solidFill>
                <a:latin typeface="Segoe UI"/>
              </a:defRPr>
            </a:pPr>
            <a:r>
              <a:t>LIMITES PHYSIQUES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744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Limites Fondamentales : Détecteur, Cross-Talk &amp; Rôle de H&amp;J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Comité de Suivi Individuel 2026 — Vincent Foriel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8632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10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9377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Limite douce détecteur : </a:t>
            </a:r>
            <a:r>
              <a:rPr sz="1400" b="0">
                <a:solidFill>
                  <a:srgbClr val="475569"/>
                </a:solidFill>
                <a:latin typeface="Segoe UI"/>
              </a:rPr>
              <a:t>Le bruit de la caméra C-RED 3 borne généralement le null brut vers 10⁻³.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Limite dure cross-talk : </a:t>
            </a:r>
            <a:r>
              <a:rPr sz="1400" b="0">
                <a:solidFill>
                  <a:srgbClr val="475569"/>
                </a:solidFill>
                <a:latin typeface="Segoe UI"/>
              </a:rPr>
              <a:t>Les termes de cross-talk fixent un plancher fondamental infranchissable à 10⁻³.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Stabilité temporelle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Cross-talk stable sur plusieurs jours et à différentes températures (remarque F. Martinache) → interne à la puce.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Limitation de Hooke &amp; Jeeves : </a:t>
            </a:r>
            <a:r>
              <a:rPr sz="1400" b="0">
                <a:solidFill>
                  <a:srgbClr val="475569"/>
                </a:solidFill>
                <a:latin typeface="Segoe UI"/>
              </a:rPr>
              <a:t>L'algo compense les déséquilibres d'amplitude, mais PAS les phases de cross-talk.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Plot de Nick Cvetojevic : </a:t>
            </a:r>
            <a:r>
              <a:rPr sz="1400" b="0">
                <a:solidFill>
                  <a:srgbClr val="475569"/>
                </a:solidFill>
                <a:latin typeface="Segoe UI"/>
              </a:rPr>
              <a:t>Lien direct entre taux de cross-talk fonderie (coût) et limite d'extinction attendue.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5559552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rosstalk_vs_n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55063"/>
            <a:ext cx="5376672" cy="3456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89320" y="5257800"/>
            <a:ext cx="53766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i="1">
                <a:solidFill>
                  <a:srgbClr val="475569"/>
                </a:solidFill>
                <a:latin typeface="Segoe UI"/>
              </a:defRPr>
            </a:pPr>
            <a:r>
              <a:t>Plot de Nick : Null depth en fonction du cross-talk (avant vs après calibration Hooke &amp; Jeeves).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33872"/>
            <a:ext cx="10728655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100" b="1">
                <a:solidFill>
                  <a:srgbClr val="1E40AF"/>
                </a:solidFill>
                <a:latin typeface="Segoe UI"/>
              </a:defRPr>
            </a:pPr>
            <a:r>
              <a:t>💡 Message clé pour le CSI : </a:t>
            </a:r>
            <a:r>
              <a:rPr sz="1100" b="0">
                <a:solidFill>
                  <a:srgbClr val="0F172A"/>
                </a:solidFill>
                <a:latin typeface="Segoe UI"/>
              </a:rPr>
              <a:t>Le cross-talk interne constitue la limite physique fondamentale à 10⁻³ ; Hooke &amp; Jeeves ne permet pas de le contourner.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950" b="1">
                <a:solidFill>
                  <a:srgbClr val="4338CA"/>
                </a:solidFill>
                <a:latin typeface="Segoe UI"/>
              </a:defRPr>
            </a:pPr>
            <a:r>
              <a:t>ACTIVITÉS DOCTORALES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744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Activités Scientifiques : Conférences &amp; Formations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Comité de Suivi Individuel 2026 — Vincent Foriel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8632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11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9377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Conférences internationales : </a:t>
            </a:r>
            <a:r>
              <a:rPr sz="1400" b="0">
                <a:solidFill>
                  <a:srgbClr val="475569"/>
                </a:solidFill>
                <a:latin typeface="Segoe UI"/>
              </a:rPr>
              <a:t>Participation active aux rendez-vous majeurs de la communauté :</a:t>
            </a:r>
          </a:p>
          <a:p>
            <a:pPr lvl="1">
              <a:spcAft>
                <a:spcPts val="1000"/>
              </a:spcAft>
            </a:pPr>
            <a:r>
              <a:rPr sz="1250" b="1">
                <a:solidFill>
                  <a:srgbClr val="475569"/>
                </a:solidFill>
                <a:latin typeface="Segoe UI"/>
              </a:rPr>
              <a:t>• Workshop WITSO (ESA) : </a:t>
            </a:r>
            <a:r>
              <a:rPr sz="1200" b="0">
                <a:solidFill>
                  <a:srgbClr val="94A3B8"/>
                </a:solidFill>
                <a:latin typeface="Segoe UI"/>
              </a:rPr>
              <a:t>Octobre 2025 — Échanges sur les architectures spatiales de nulling.</a:t>
            </a:r>
          </a:p>
          <a:p>
            <a:pPr lvl="1">
              <a:spcAft>
                <a:spcPts val="1000"/>
              </a:spcAft>
            </a:pPr>
            <a:r>
              <a:rPr sz="1250" b="1">
                <a:solidFill>
                  <a:srgbClr val="475569"/>
                </a:solidFill>
                <a:latin typeface="Segoe UI"/>
              </a:rPr>
              <a:t>• Conférence LIFE : </a:t>
            </a:r>
            <a:r>
              <a:rPr sz="1200" b="0">
                <a:solidFill>
                  <a:srgbClr val="94A3B8"/>
                </a:solidFill>
                <a:latin typeface="Segoe UI"/>
              </a:rPr>
              <a:t>Novembre 2025 — Présentation des méthodes statistiques et Kernel-Nulling.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Aléa médical : </a:t>
            </a:r>
            <a:r>
              <a:rPr sz="1400" b="0">
                <a:solidFill>
                  <a:srgbClr val="475569"/>
                </a:solidFill>
                <a:latin typeface="Segoe UI"/>
              </a:rPr>
              <a:t>Annulation contrainte de la conférence SPIE (juillet 2026).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Formations doctorales : </a:t>
            </a:r>
            <a:r>
              <a:rPr sz="1400" b="0">
                <a:solidFill>
                  <a:srgbClr val="475569"/>
                </a:solidFill>
                <a:latin typeface="Segoe UI"/>
              </a:rPr>
              <a:t>Quota d'heures de formation requis atteint (validations finales en cours sur ADUM).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5559552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500" b="1">
                <a:solidFill>
                  <a:srgbClr val="1E40AF"/>
                </a:solidFill>
                <a:latin typeface="Segoe UI"/>
              </a:defRPr>
            </a:pPr>
            <a:r>
              <a:t>📌 Bilan des Engagements Doctoraux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Conférence WITSO (ESA) (Octobre 2025) : </a:t>
            </a:r>
            <a:r>
              <a:rPr sz="1150">
                <a:solidFill>
                  <a:srgbClr val="475569"/>
                </a:solidFill>
                <a:latin typeface="Segoe UI"/>
              </a:rPr>
              <a:t>Mission spatiale &amp; interférométrie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Conférence LIFE (Novembre 2025) : </a:t>
            </a:r>
            <a:r>
              <a:rPr sz="1150">
                <a:solidFill>
                  <a:srgbClr val="475569"/>
                </a:solidFill>
                <a:latin typeface="Segoe UI"/>
              </a:rPr>
              <a:t>Communauté détection exoplanètes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Conférence SPIE (Juillet 2026) : </a:t>
            </a:r>
            <a:r>
              <a:rPr sz="1150">
                <a:solidFill>
                  <a:srgbClr val="475569"/>
                </a:solidFill>
                <a:latin typeface="Segoe UI"/>
              </a:rPr>
              <a:t>Annulée pour raison médicale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Formations transversales (UCA / EDSFA) : </a:t>
            </a:r>
            <a:r>
              <a:rPr sz="1150">
                <a:solidFill>
                  <a:srgbClr val="475569"/>
                </a:solidFill>
                <a:latin typeface="Segoe UI"/>
              </a:rPr>
              <a:t>Heures complètes effectuées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Formations scientifiques (Ateliers &amp; Séminaires) : </a:t>
            </a:r>
            <a:r>
              <a:rPr sz="1150">
                <a:solidFill>
                  <a:srgbClr val="475569"/>
                </a:solidFill>
                <a:latin typeface="Segoe UI"/>
              </a:rPr>
              <a:t>Quota global atteint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33872"/>
            <a:ext cx="10728655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100" b="1">
                <a:solidFill>
                  <a:srgbClr val="1E40AF"/>
                </a:solidFill>
                <a:latin typeface="Segoe UI"/>
              </a:defRPr>
            </a:pPr>
            <a:r>
              <a:t>💡 Message clé pour le CSI : </a:t>
            </a:r>
            <a:r>
              <a:rPr sz="1100" b="0">
                <a:solidFill>
                  <a:srgbClr val="0F172A"/>
                </a:solidFill>
                <a:latin typeface="Segoe UI"/>
              </a:rPr>
              <a:t>Présence assurée auprès de la communauté européenne du nulling et obligations de formation doctorale validées.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950" b="1">
                <a:solidFill>
                  <a:srgbClr val="4338CA"/>
                </a:solidFill>
                <a:latin typeface="Segoe UI"/>
              </a:defRPr>
            </a:pPr>
            <a:r>
              <a:t>AVANCEMENT &amp; RÉDACTION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744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Rédaction de l'Article 4x4 : Diagnostic TDAH &amp; Dynamique de Fin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Comité de Suivi Individuel 2026 — Vincent Foriel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8632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12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9377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Article A&amp;A en cours : </a:t>
            </a:r>
            <a:r>
              <a:rPr sz="1400" b="0">
                <a:solidFill>
                  <a:srgbClr val="475569"/>
                </a:solidFill>
                <a:latin typeface="Segoe UI"/>
              </a:rPr>
              <a:t>Calibration and characterization of an active photonic nulling interferometer.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État du manuscrit : </a:t>
            </a:r>
            <a:r>
              <a:rPr sz="1400" b="0">
                <a:solidFill>
                  <a:srgbClr val="475569"/>
                </a:solidFill>
                <a:latin typeface="Segoe UI"/>
              </a:rPr>
              <a:t>Structure complète, figures générées, phase de révision avec les co-auteurs.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Diagnostic TDAH récent : </a:t>
            </a:r>
            <a:r>
              <a:rPr sz="1400" b="0">
                <a:solidFill>
                  <a:srgbClr val="475569"/>
                </a:solidFill>
                <a:latin typeface="Segoe UI"/>
              </a:rPr>
              <a:t>Identification clinique de la source des lenteurs et difficultés attentionnelles.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Prise en charge médicale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Mise en place d'un protocole adapté (Ritaline) et structuration du cadre de travail.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Perspective positive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Soulagement et sérénité pour aborder le sprint final d'écriture du manuscrit.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5559552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aper_p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559" y="1531620"/>
            <a:ext cx="2620193" cy="3703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89320" y="5257800"/>
            <a:ext cx="53766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i="1">
                <a:solidFill>
                  <a:srgbClr val="475569"/>
                </a:solidFill>
                <a:latin typeface="Segoe UI"/>
              </a:defRPr>
            </a:pPr>
            <a:r>
              <a:t>Manuscrit de l'article de caractérisation du MMI 4x4 (soumission A&amp;A).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833872"/>
            <a:ext cx="10728655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100" b="1">
                <a:solidFill>
                  <a:srgbClr val="1E40AF"/>
                </a:solidFill>
                <a:latin typeface="Segoe UI"/>
              </a:defRPr>
            </a:pPr>
            <a:r>
              <a:t>💡 Message clé pour le CSI : </a:t>
            </a:r>
            <a:r>
              <a:rPr sz="1100" b="0">
                <a:solidFill>
                  <a:srgbClr val="0F172A"/>
                </a:solidFill>
                <a:latin typeface="Segoe UI"/>
              </a:rPr>
              <a:t>Le diagnostic médical récent apporte une réponse concrète pour accélérer sereinement la finalisation du papier et du manuscrit.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950" b="1">
                <a:solidFill>
                  <a:srgbClr val="4338CA"/>
                </a:solidFill>
                <a:latin typeface="Segoe UI"/>
              </a:defRPr>
            </a:pPr>
            <a:r>
              <a:t>PERSPECTIVES &amp; PÉRENNITÉ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744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Perspectives Scientifiques &amp; Transmission aux Successeurs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Comité de Suivi Individuel 2026 — Vincent Foriel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8632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13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9377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Extension Kernel-Null : </a:t>
            </a:r>
            <a:r>
              <a:rPr sz="1400" b="0">
                <a:solidFill>
                  <a:srgbClr val="475569"/>
                </a:solidFill>
                <a:latin typeface="Segoe UI"/>
              </a:rPr>
              <a:t>Appliquer l'étude cross-talk de Nick directement à l'observable Kernel (au-delà du null brut).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Passerelle PHOBos ↔ PHISE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Outil automatique pour extraire la matrice d'un composant sur banc et l'injecter dans PHISE.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Documentation &amp; Packaging : </a:t>
            </a:r>
            <a:r>
              <a:rPr sz="1400" b="0">
                <a:solidFill>
                  <a:srgbClr val="475569"/>
                </a:solidFill>
                <a:latin typeface="Segoe UI"/>
              </a:rPr>
              <a:t>Nettoyage, modularisation et guides d'utilisation complets pour le laboratoire.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Transmission pérenne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Permettre aux futurs doctorants et chercheurs de reprendre les travaux sans redondance.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5559552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500" b="1">
                <a:solidFill>
                  <a:srgbClr val="1E40AF"/>
                </a:solidFill>
                <a:latin typeface="Segoe UI"/>
              </a:defRPr>
            </a:pPr>
            <a:r>
              <a:t>🔄 Écosystème Pérenne pour le Laboratoire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1. Banc PHOBos : </a:t>
            </a:r>
            <a:r>
              <a:rPr sz="1150">
                <a:solidFill>
                  <a:srgbClr val="475569"/>
                </a:solidFill>
                <a:latin typeface="Segoe UI"/>
              </a:rPr>
              <a:t>Scan systématique automatisé &amp; acquisition des données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2. Outil Matriciel : </a:t>
            </a:r>
            <a:r>
              <a:rPr sz="1150">
                <a:solidFill>
                  <a:srgbClr val="475569"/>
                </a:solidFill>
                <a:latin typeface="Segoe UI"/>
              </a:rPr>
              <a:t>Extraction automatique du modèle CMPCE sur banc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3. Passerelle directe : </a:t>
            </a:r>
            <a:r>
              <a:rPr sz="1150">
                <a:solidFill>
                  <a:srgbClr val="475569"/>
                </a:solidFill>
                <a:latin typeface="Segoe UI"/>
              </a:rPr>
              <a:t>Export direct vers la classe Context de PHISE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4. Jumeau Numérique PHISE : </a:t>
            </a:r>
            <a:r>
              <a:rPr sz="1150">
                <a:solidFill>
                  <a:srgbClr val="475569"/>
                </a:solidFill>
                <a:latin typeface="Segoe UI"/>
              </a:rPr>
              <a:t>Simulations astrophysiques &amp; optimisation des algorithmes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F172A"/>
                </a:solidFill>
                <a:latin typeface="Segoe UI"/>
              </a:rPr>
              <a:t>• 5. PltEdit : </a:t>
            </a:r>
            <a:r>
              <a:rPr sz="1150">
                <a:solidFill>
                  <a:srgbClr val="475569"/>
                </a:solidFill>
                <a:latin typeface="Segoe UI"/>
              </a:rPr>
              <a:t>Édition graphique standardisée des résultats scientifiques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33872"/>
            <a:ext cx="10728655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100" b="1">
                <a:solidFill>
                  <a:srgbClr val="1E40AF"/>
                </a:solidFill>
                <a:latin typeface="Segoe UI"/>
              </a:defRPr>
            </a:pPr>
            <a:r>
              <a:t>💡 Message clé pour le CSI : </a:t>
            </a:r>
            <a:r>
              <a:rPr sz="1100" b="0">
                <a:solidFill>
                  <a:srgbClr val="0F172A"/>
                </a:solidFill>
                <a:latin typeface="Segoe UI"/>
              </a:rPr>
              <a:t>Laisser une suite logicielle documentée, éprouvée et interopérable garantissant une transmission immédiate au laboratoire.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384048"/>
            <a:ext cx="2926080" cy="292608"/>
          </a:xfrm>
          <a:prstGeom prst="roundRect">
            <a:avLst/>
          </a:prstGeom>
          <a:solidFill>
            <a:srgbClr val="E0E7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defRPr sz="950" b="1">
                <a:solidFill>
                  <a:srgbClr val="4338CA"/>
                </a:solidFill>
                <a:latin typeface="Segoe UI"/>
              </a:defRPr>
            </a:pPr>
            <a:r>
              <a:t>PLANNING DE FIN DE THÈSE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13232"/>
            <a:ext cx="107442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Rétroplanning vers la Soutenance de 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73952"/>
            <a:ext cx="7315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Comité de Suivi Individuel 2026 — Vincent Foriel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8632" y="6473952"/>
            <a:ext cx="1828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  <a:latin typeface="Segoe UI"/>
              </a:defRPr>
            </a:pPr>
            <a:r>
              <a:t>14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493776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Automne 2026 : </a:t>
            </a:r>
            <a:r>
              <a:rPr sz="1400" b="0">
                <a:solidFill>
                  <a:srgbClr val="475569"/>
                </a:solidFill>
                <a:latin typeface="Segoe UI"/>
              </a:rPr>
              <a:t>Soumission article A&amp;A 4x4 MMI + finalisation de la passerelle PHOBos/PHISE.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Hiver 2026-2027 : </a:t>
            </a:r>
            <a:r>
              <a:rPr sz="1400" b="0">
                <a:solidFill>
                  <a:srgbClr val="475569"/>
                </a:solidFill>
                <a:latin typeface="Segoe UI"/>
              </a:rPr>
              <a:t>Rédaction intensive du manuscrit de thèse (3 piliers : théorie, banc, modélisation).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Printemps 2027 : </a:t>
            </a:r>
            <a:r>
              <a:rPr sz="1400" b="0">
                <a:solidFill>
                  <a:srgbClr val="475569"/>
                </a:solidFill>
                <a:latin typeface="Segoe UI"/>
              </a:rPr>
              <a:t>Relectures des directeurs, ajustements et dépôt officiel aux rapporteurs.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Mi-2027 : </a:t>
            </a:r>
            <a:r>
              <a:rPr sz="1400" b="0">
                <a:solidFill>
                  <a:srgbClr val="475569"/>
                </a:solidFill>
                <a:latin typeface="Segoe UI"/>
              </a:rPr>
              <a:t>Soutenance de thèse à Nice.</a:t>
            </a:r>
          </a:p>
          <a:p>
            <a:pPr>
              <a:spcAft>
                <a:spcPts val="10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Après-thèse : </a:t>
            </a:r>
            <a:r>
              <a:rPr sz="1400" b="0">
                <a:solidFill>
                  <a:srgbClr val="475569"/>
                </a:solidFill>
                <a:latin typeface="Segoe UI"/>
              </a:rPr>
              <a:t>Projet professionnel orienté vers l'ingénierie de recherche / R&amp;D.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417320"/>
            <a:ext cx="5559552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bIns="274320" rtlCol="0" anchor="ctr"/>
          <a:lstStyle/>
          <a:p>
            <a:pPr algn="ctr">
              <a:spcAft>
                <a:spcPts val="1400"/>
              </a:spcAft>
              <a:defRPr sz="1500" b="1">
                <a:solidFill>
                  <a:srgbClr val="1E40AF"/>
                </a:solidFill>
                <a:latin typeface="Segoe UI"/>
              </a:defRPr>
            </a:pPr>
            <a:r>
              <a:t>📅 Calendrier Prévisionnel Séquencé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• Sept. – Nov. 2026 : </a:t>
            </a:r>
            <a:r>
              <a:rPr sz="1150">
                <a:solidFill>
                  <a:srgbClr val="0F172A"/>
                </a:solidFill>
                <a:latin typeface="Segoe UI"/>
              </a:rPr>
              <a:t>Finalisation &amp; Soumission Article A&amp;A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0EA5E9"/>
                </a:solidFill>
                <a:latin typeface="Segoe UI"/>
              </a:rPr>
              <a:t>• Oct. – Déc. 2026 : </a:t>
            </a:r>
            <a:r>
              <a:rPr sz="1150">
                <a:solidFill>
                  <a:srgbClr val="0F172A"/>
                </a:solidFill>
                <a:latin typeface="Segoe UI"/>
              </a:rPr>
              <a:t>Pont Cross-talk/Kernel &amp; Outils PHOBos/PHISE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6366F1"/>
                </a:solidFill>
                <a:latin typeface="Segoe UI"/>
              </a:rPr>
              <a:t>• Nov. 2026 – Fév. 2027 : </a:t>
            </a:r>
            <a:r>
              <a:rPr sz="1150">
                <a:solidFill>
                  <a:srgbClr val="0F172A"/>
                </a:solidFill>
                <a:latin typeface="Segoe UI"/>
              </a:rPr>
              <a:t>Rédaction Manuscrit de Thèse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855F7"/>
                </a:solidFill>
                <a:latin typeface="Segoe UI"/>
              </a:rPr>
              <a:t>• Mars – Avril 2027 : </a:t>
            </a:r>
            <a:r>
              <a:rPr sz="1150">
                <a:solidFill>
                  <a:srgbClr val="0F172A"/>
                </a:solidFill>
                <a:latin typeface="Segoe UI"/>
              </a:rPr>
              <a:t>Relectures &amp; Dépôt aux Rapporteurs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EC4899"/>
                </a:solidFill>
                <a:latin typeface="Segoe UI"/>
              </a:rPr>
              <a:t>• Mai – Juin 2027 : </a:t>
            </a:r>
            <a:r>
              <a:rPr sz="1150">
                <a:solidFill>
                  <a:srgbClr val="0F172A"/>
                </a:solidFill>
                <a:latin typeface="Segoe UI"/>
              </a:rPr>
              <a:t>Préparation de la Soutenance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• Mi-2027 : </a:t>
            </a:r>
            <a:r>
              <a:rPr sz="1150">
                <a:solidFill>
                  <a:srgbClr val="0F172A"/>
                </a:solidFill>
                <a:latin typeface="Segoe UI"/>
              </a:rPr>
              <a:t>🎓 Soutenance de Thèse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833872"/>
            <a:ext cx="10728655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91440" rtlCol="0" anchor="ctr"/>
          <a:lstStyle/>
          <a:p>
            <a:pPr algn="ctr">
              <a:defRPr sz="1100" b="1">
                <a:solidFill>
                  <a:srgbClr val="1E40AF"/>
                </a:solidFill>
                <a:latin typeface="Segoe UI"/>
              </a:defRPr>
            </a:pPr>
            <a:r>
              <a:t>💡 Message clé pour le CSI : </a:t>
            </a:r>
            <a:r>
              <a:rPr sz="1100" b="0">
                <a:solidFill>
                  <a:srgbClr val="0F172A"/>
                </a:solidFill>
                <a:latin typeface="Segoe UI"/>
              </a:rPr>
              <a:t>Un rétroplanning structuré et réaliste pour finaliser la publication, le manuscrit et soutenir la thèse mi-2027.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2164</Words>
  <Application>Microsoft Office PowerPoint</Application>
  <PresentationFormat>Widescreen</PresentationFormat>
  <Paragraphs>171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Vincent Foriel</cp:lastModifiedBy>
  <cp:revision>2</cp:revision>
  <dcterms:created xsi:type="dcterms:W3CDTF">2013-01-27T09:14:16Z</dcterms:created>
  <dcterms:modified xsi:type="dcterms:W3CDTF">2026-09-14T12:04:14Z</dcterms:modified>
  <cp:category/>
</cp:coreProperties>
</file>